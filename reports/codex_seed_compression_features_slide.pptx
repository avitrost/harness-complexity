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4343400" cy="40233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2200" b="0">
                <a:solidFill>
                  <a:srgbClr val="182029"/>
                </a:solidFill>
                <a:latin typeface="Georgia"/>
              </a:rPr>
              <a:t>Codex seed compression 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18304" y="182880"/>
            <a:ext cx="7150608" cy="420624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810" b="0">
                <a:solidFill>
                  <a:srgbClr val="5F6974"/>
                </a:solidFill>
                <a:latin typeface="Georgia"/>
              </a:rPr>
              <a:t>The full seed is a high-fidelity Codex CLI port. Each smaller seed spends fewer physical lines on the same behavioral surface. Color encodes retained feature depth, not benchmark reward.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686032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877824"/>
            <a:ext cx="544721" cy="438912"/>
          </a:xfrm>
          <a:prstGeom prst="rect">
            <a:avLst/>
          </a:prstGeom>
          <a:solidFill>
            <a:srgbClr val="EDF2F6"/>
          </a:solidFill>
          <a:ln w="25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877824"/>
            <a:ext cx="544721" cy="438912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44168"/>
            <a:ext cx="544721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20" b="1">
                <a:solidFill>
                  <a:srgbClr val="182029"/>
                </a:solidFill>
                <a:latin typeface="Arial"/>
              </a:rPr>
              <a:t>Full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453896"/>
            <a:ext cx="544721" cy="9144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00" b="0">
                <a:solidFill>
                  <a:srgbClr val="5F6974"/>
                </a:solidFill>
                <a:latin typeface="Arial"/>
              </a:rPr>
              <a:t>2210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905" y="877824"/>
            <a:ext cx="544721" cy="438912"/>
          </a:xfrm>
          <a:prstGeom prst="rect">
            <a:avLst/>
          </a:prstGeom>
          <a:solidFill>
            <a:srgbClr val="EDF2F6"/>
          </a:solidFill>
          <a:ln w="25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3905" y="987552"/>
            <a:ext cx="544721" cy="329184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905" y="1344168"/>
            <a:ext cx="544721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20" b="1">
                <a:solidFill>
                  <a:srgbClr val="182029"/>
                </a:solidFill>
                <a:latin typeface="Arial"/>
              </a:rPr>
              <a:t>Compressed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905" y="1453896"/>
            <a:ext cx="544721" cy="9144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00" b="0">
                <a:solidFill>
                  <a:srgbClr val="5F6974"/>
                </a:solidFill>
                <a:latin typeface="Arial"/>
              </a:rPr>
              <a:t>1660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1778" y="877824"/>
            <a:ext cx="544721" cy="438912"/>
          </a:xfrm>
          <a:prstGeom prst="rect">
            <a:avLst/>
          </a:prstGeom>
          <a:solidFill>
            <a:srgbClr val="EDF2F6"/>
          </a:solidFill>
          <a:ln w="25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91778" y="1057777"/>
            <a:ext cx="544721" cy="258958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1778" y="1344168"/>
            <a:ext cx="544721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20" b="1">
                <a:solidFill>
                  <a:srgbClr val="182029"/>
                </a:solidFill>
                <a:latin typeface="Arial"/>
              </a:rPr>
              <a:t>1300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1778" y="1453896"/>
            <a:ext cx="544721" cy="9144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00" b="0">
                <a:solidFill>
                  <a:srgbClr val="5F6974"/>
                </a:solidFill>
                <a:latin typeface="Arial"/>
              </a:rPr>
              <a:t>1300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9651" y="877824"/>
            <a:ext cx="544721" cy="438912"/>
          </a:xfrm>
          <a:prstGeom prst="rect">
            <a:avLst/>
          </a:prstGeom>
          <a:solidFill>
            <a:srgbClr val="EDF2F6"/>
          </a:solidFill>
          <a:ln w="25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09651" y="1119225"/>
            <a:ext cx="544721" cy="197510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9651" y="1344168"/>
            <a:ext cx="544721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20" b="1">
                <a:solidFill>
                  <a:srgbClr val="182029"/>
                </a:solidFill>
                <a:latin typeface="Arial"/>
              </a:rPr>
              <a:t>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9651" y="1453896"/>
            <a:ext cx="544721" cy="9144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00" b="0">
                <a:solidFill>
                  <a:srgbClr val="5F6974"/>
                </a:solidFill>
                <a:latin typeface="Arial"/>
              </a:rPr>
              <a:t>1000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7524" y="877824"/>
            <a:ext cx="544721" cy="438912"/>
          </a:xfrm>
          <a:prstGeom prst="rect">
            <a:avLst/>
          </a:prstGeom>
          <a:solidFill>
            <a:srgbClr val="EDF2F6"/>
          </a:solidFill>
          <a:ln w="25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27524" y="1176284"/>
            <a:ext cx="544721" cy="140451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7524" y="1344168"/>
            <a:ext cx="544721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20" b="1">
                <a:solidFill>
                  <a:srgbClr val="182029"/>
                </a:solidFill>
                <a:latin typeface="Arial"/>
              </a:rPr>
              <a:t>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7524" y="1453896"/>
            <a:ext cx="544721" cy="9144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00" b="0">
                <a:solidFill>
                  <a:srgbClr val="5F6974"/>
                </a:solidFill>
                <a:latin typeface="Arial"/>
              </a:rPr>
              <a:t>700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5397" y="877824"/>
            <a:ext cx="544721" cy="438912"/>
          </a:xfrm>
          <a:prstGeom prst="rect">
            <a:avLst/>
          </a:prstGeom>
          <a:solidFill>
            <a:srgbClr val="EDF2F6"/>
          </a:solidFill>
          <a:ln w="25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45397" y="1237731"/>
            <a:ext cx="544721" cy="79004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5397" y="1344168"/>
            <a:ext cx="544721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20" b="1">
                <a:solidFill>
                  <a:srgbClr val="182029"/>
                </a:solidFill>
                <a:latin typeface="Arial"/>
              </a:rPr>
              <a:t>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5397" y="1453896"/>
            <a:ext cx="544721" cy="9144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00" b="0">
                <a:solidFill>
                  <a:srgbClr val="5F6974"/>
                </a:solidFill>
                <a:latin typeface="Arial"/>
              </a:rPr>
              <a:t>400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3270" y="877824"/>
            <a:ext cx="544721" cy="438912"/>
          </a:xfrm>
          <a:prstGeom prst="rect">
            <a:avLst/>
          </a:prstGeom>
          <a:solidFill>
            <a:srgbClr val="EDF2F6"/>
          </a:solidFill>
          <a:ln w="25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63270" y="1294790"/>
            <a:ext cx="544721" cy="21945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3270" y="1344168"/>
            <a:ext cx="544721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20" b="1">
                <a:solidFill>
                  <a:srgbClr val="182029"/>
                </a:solidFill>
                <a:latin typeface="Arial"/>
              </a:rPr>
              <a:t>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3270" y="1453896"/>
            <a:ext cx="544721" cy="9144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500" b="0">
                <a:solidFill>
                  <a:srgbClr val="5F6974"/>
                </a:solidFill>
                <a:latin typeface="Arial"/>
              </a:rPr>
              <a:t>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850392"/>
            <a:ext cx="962732" cy="11887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60" b="1">
                <a:solidFill>
                  <a:srgbClr val="182029"/>
                </a:solidFill>
                <a:latin typeface="Arial"/>
              </a:rPr>
              <a:t>Full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978408"/>
            <a:ext cx="962732" cy="45720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00" b="0">
                <a:solidFill>
                  <a:srgbClr val="5F6974"/>
                </a:solidFill>
                <a:latin typeface="Arial"/>
              </a:rPr>
              <a:t>Readable port; parity manifest; named thinners.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2476" y="850392"/>
            <a:ext cx="962732" cy="11887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60" b="1">
                <a:solidFill>
                  <a:srgbClr val="182029"/>
                </a:solidFill>
                <a:latin typeface="Arial"/>
              </a:rPr>
              <a:t>Compressed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2476" y="978408"/>
            <a:ext cx="962732" cy="45720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00" b="0">
                <a:solidFill>
                  <a:srgbClr val="5F6974"/>
                </a:solidFill>
                <a:latin typeface="Arial"/>
              </a:rPr>
              <a:t>Same behavior in packed standalone form.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8361" y="850392"/>
            <a:ext cx="962732" cy="11887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60" b="1">
                <a:solidFill>
                  <a:srgbClr val="182029"/>
                </a:solidFill>
                <a:latin typeface="Arial"/>
              </a:rPr>
              <a:t>1300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8361" y="978408"/>
            <a:ext cx="962732" cy="45720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00" b="0">
                <a:solidFill>
                  <a:srgbClr val="5F6974"/>
                </a:solidFill>
                <a:latin typeface="Arial"/>
              </a:rPr>
              <a:t>Full tool surface; compact classes and guides.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4245" y="850392"/>
            <a:ext cx="962732" cy="11887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60" b="1">
                <a:solidFill>
                  <a:srgbClr val="182029"/>
                </a:solidFill>
                <a:latin typeface="Arial"/>
              </a:rPr>
              <a:t>1000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4245" y="978408"/>
            <a:ext cx="962732" cy="45720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00" b="0">
                <a:solidFill>
                  <a:srgbClr val="5F6974"/>
                </a:solidFill>
                <a:latin typeface="Arial"/>
              </a:rPr>
              <a:t>Same core loop; thinner helpers.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0130" y="850392"/>
            <a:ext cx="962732" cy="11887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60" b="1">
                <a:solidFill>
                  <a:srgbClr val="182029"/>
                </a:solidFill>
                <a:latin typeface="Arial"/>
              </a:rPr>
              <a:t>700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0130" y="978408"/>
            <a:ext cx="962732" cy="45720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00" b="0">
                <a:solidFill>
                  <a:srgbClr val="5F6974"/>
                </a:solidFill>
                <a:latin typeface="Arial"/>
              </a:rPr>
              <a:t>No model compaction; still four tools.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6014" y="850392"/>
            <a:ext cx="962732" cy="11887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60" b="1">
                <a:solidFill>
                  <a:srgbClr val="182029"/>
                </a:solidFill>
                <a:latin typeface="Arial"/>
              </a:rPr>
              <a:t>400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16014" y="978408"/>
            <a:ext cx="962732" cy="45720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00" b="0">
                <a:solidFill>
                  <a:srgbClr val="5F6974"/>
                </a:solidFill>
                <a:latin typeface="Arial"/>
              </a:rPr>
              <a:t>Codex prompt plus core shell tools; no plan.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51899" y="850392"/>
            <a:ext cx="962732" cy="11887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60" b="1">
                <a:solidFill>
                  <a:srgbClr val="182029"/>
                </a:solidFill>
                <a:latin typeface="Arial"/>
              </a:rPr>
              <a:t>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51899" y="978408"/>
            <a:ext cx="962732" cy="45720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00" b="0">
                <a:solidFill>
                  <a:srgbClr val="5F6974"/>
                </a:solidFill>
                <a:latin typeface="Arial"/>
              </a:rPr>
              <a:t>Minimal exec agent; comparison floor.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1636776"/>
            <a:ext cx="11686032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1755648"/>
            <a:ext cx="5303520" cy="146304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640" b="1">
                <a:solidFill>
                  <a:srgbClr val="5F6974"/>
                </a:solidFill>
                <a:latin typeface="Arial"/>
              </a:rPr>
              <a:t>FEATURE RETENTION: QUALITATIVE DEPTH FROM SEED-CODE INSPECTION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1773936"/>
            <a:ext cx="137160" cy="64008"/>
          </a:xfrm>
          <a:prstGeom prst="rect">
            <a:avLst/>
          </a:prstGeom>
          <a:solidFill>
            <a:srgbClr val="0B6B50"/>
          </a:solidFill>
          <a:ln w="1905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82712" y="1751076"/>
            <a:ext cx="621792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50" b="0">
                <a:solidFill>
                  <a:srgbClr val="5F6974"/>
                </a:solidFill>
                <a:latin typeface="Arial"/>
              </a:rPr>
              <a:t>full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04504" y="1773936"/>
            <a:ext cx="137160" cy="64008"/>
          </a:xfrm>
          <a:prstGeom prst="rect">
            <a:avLst/>
          </a:prstGeom>
          <a:solidFill>
            <a:srgbClr val="A6BC8E"/>
          </a:solidFill>
          <a:ln w="1905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69096" y="1751076"/>
            <a:ext cx="621792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50" b="0">
                <a:solidFill>
                  <a:srgbClr val="5F6974"/>
                </a:solidFill>
                <a:latin typeface="Arial"/>
              </a:rPr>
              <a:t>packed/high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90888" y="1773936"/>
            <a:ext cx="137160" cy="64008"/>
          </a:xfrm>
          <a:prstGeom prst="rect">
            <a:avLst/>
          </a:prstGeom>
          <a:solidFill>
            <a:srgbClr val="D3BF79"/>
          </a:solidFill>
          <a:ln w="1905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5480" y="1751076"/>
            <a:ext cx="621792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50" b="0">
                <a:solidFill>
                  <a:srgbClr val="5F6974"/>
                </a:solidFill>
                <a:latin typeface="Arial"/>
              </a:rPr>
              <a:t>thin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77272" y="1773936"/>
            <a:ext cx="137160" cy="64008"/>
          </a:xfrm>
          <a:prstGeom prst="rect">
            <a:avLst/>
          </a:prstGeom>
          <a:solidFill>
            <a:srgbClr val="D8C7A8"/>
          </a:solidFill>
          <a:ln w="1905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41863" y="1751076"/>
            <a:ext cx="621792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50" b="0">
                <a:solidFill>
                  <a:srgbClr val="5F6974"/>
                </a:solidFill>
                <a:latin typeface="Arial"/>
              </a:rPr>
              <a:t>trace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63655" y="1773936"/>
            <a:ext cx="137160" cy="64008"/>
          </a:xfrm>
          <a:prstGeom prst="rect">
            <a:avLst/>
          </a:prstGeom>
          <a:solidFill>
            <a:srgbClr val="EDEAE4"/>
          </a:solidFill>
          <a:ln w="1905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28247" y="1751076"/>
            <a:ext cx="621792" cy="10972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50" b="0">
                <a:solidFill>
                  <a:srgbClr val="5F6974"/>
                </a:solidFill>
                <a:latin typeface="Arial"/>
              </a:rPr>
              <a:t>absent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1947672"/>
            <a:ext cx="11686032" cy="4352544"/>
          </a:xfrm>
          <a:prstGeom prst="rect">
            <a:avLst/>
          </a:prstGeom>
          <a:solidFill>
            <a:srgbClr val="FB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1984248"/>
            <a:ext cx="2843784" cy="164592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640" b="1">
                <a:solidFill>
                  <a:srgbClr val="182029"/>
                </a:solidFill>
                <a:latin typeface="Arial"/>
              </a:rPr>
              <a:t>Full Codex feature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6391" y="1970531"/>
            <a:ext cx="1257953" cy="20116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620" b="1">
                <a:solidFill>
                  <a:srgbClr val="182029"/>
                </a:solidFill>
                <a:latin typeface="Arial"/>
              </a:rPr>
              <a:t>Full
2210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94345" y="1970531"/>
            <a:ext cx="1257953" cy="20116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620" b="1">
                <a:solidFill>
                  <a:srgbClr val="182029"/>
                </a:solidFill>
                <a:latin typeface="Arial"/>
              </a:rPr>
              <a:t>Compressed
1660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52298" y="1970531"/>
            <a:ext cx="1257953" cy="20116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620" b="1">
                <a:solidFill>
                  <a:srgbClr val="182029"/>
                </a:solidFill>
                <a:latin typeface="Arial"/>
              </a:rPr>
              <a:t>1300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10251" y="1970531"/>
            <a:ext cx="1257953" cy="20116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620" b="1">
                <a:solidFill>
                  <a:srgbClr val="182029"/>
                </a:solidFill>
                <a:latin typeface="Arial"/>
              </a:rPr>
              <a:t>1000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68204" y="1970531"/>
            <a:ext cx="1257953" cy="20116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620" b="1">
                <a:solidFill>
                  <a:srgbClr val="182029"/>
                </a:solidFill>
                <a:latin typeface="Arial"/>
              </a:rPr>
              <a:t>700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26157" y="1970531"/>
            <a:ext cx="1257953" cy="20116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620" b="1">
                <a:solidFill>
                  <a:srgbClr val="182029"/>
                </a:solidFill>
                <a:latin typeface="Arial"/>
              </a:rPr>
              <a:t>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84110" y="1970531"/>
            <a:ext cx="1257953" cy="201168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pPr algn="ctr"/>
            <a:r>
              <a:rPr sz="620" b="1">
                <a:solidFill>
                  <a:srgbClr val="182029"/>
                </a:solidFill>
                <a:latin typeface="Arial"/>
              </a:rPr>
              <a:t>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" y="2212848"/>
            <a:ext cx="11686032" cy="10972"/>
          </a:xfrm>
          <a:prstGeom prst="rect">
            <a:avLst/>
          </a:prstGeom>
          <a:solidFill>
            <a:srgbClr val="18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6032" y="2587253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2253996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Codex base instructions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2377439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Pinned CLI persona and coding rules.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36391" y="2221991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36391" y="2244851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verbatim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94345" y="2221991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94345" y="2244851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packed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52298" y="2221991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52298" y="2244851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packed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10251" y="2221991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10251" y="2244851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packed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8204" y="2221991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68204" y="2244851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packed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26157" y="2221991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26157" y="2244851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packed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84110" y="2221991"/>
            <a:ext cx="1257953" cy="370747"/>
          </a:xfrm>
          <a:prstGeom prst="rect">
            <a:avLst/>
          </a:prstGeom>
          <a:solidFill>
            <a:srgbClr val="ED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684110" y="2244851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generic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6032" y="2958000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2624743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Operating guidance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2748187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Autonomy, validation, git hygiene, terminal habits.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36391" y="2592739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36391" y="2615599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 text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94345" y="2592739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94345" y="2615599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90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compressed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52298" y="2592739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52298" y="2615599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long guide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10251" y="2592739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10251" y="2615599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65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medium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68204" y="2592739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68204" y="2615599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35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short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426157" y="2592739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426157" y="2615599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15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minimal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84110" y="2592739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684110" y="2615599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one rule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032" y="3328748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2995491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Environment, permissions, AGENTS.md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4320" y="3118935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Workspace context, cwd, sandbox/approval, repo instructions.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36391" y="2963487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36391" y="298634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94345" y="2963487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94345" y="298634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52298" y="2963487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52298" y="298634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10251" y="2963487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10251" y="298634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168204" y="2963487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68204" y="298634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426157" y="2963487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426157" y="298634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84110" y="2963487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84110" y="298634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20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cwd only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56032" y="3699496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4320" y="3366238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Tool surface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4320" y="3489682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exec_command, write_stdin, update_plan, apply_patch.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136391" y="3334234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136391" y="3357094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4 tools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394345" y="3334234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94345" y="3357094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4 tools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652298" y="3334234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652298" y="3357094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4 tools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10251" y="3334234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10251" y="3357094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4 tools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168204" y="3334234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168204" y="3357094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4 tools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426157" y="3334234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426157" y="3357094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no plan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84110" y="3334234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84110" y="3357094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25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exec only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56032" y="4070243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4320" y="3736986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Tool routing and schemas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4320" y="3860430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Responses items, patch payloads, argument repair, shell aliases.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136391" y="3704982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136391" y="3727842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typed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394345" y="3704982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94345" y="3727842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packed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652298" y="3704982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652298" y="3727842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910251" y="3704982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10251" y="3727842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168204" y="3704982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168204" y="3727842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60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lean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426157" y="3704982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426157" y="3727842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40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simple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84110" y="3704982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684110" y="3727842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15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exec parse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56032" y="4440991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74320" y="4107734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Transcript replay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74320" y="4231178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Assistant/tool history, output normalization, output-only turns.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136391" y="4075730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136391" y="409859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394345" y="4075730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394345" y="409859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652298" y="4075730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652298" y="409859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910251" y="4075730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910251" y="409859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168204" y="4075730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168204" y="409859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60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recent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426157" y="4075730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426157" y="409859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35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recent 12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84110" y="4075730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684110" y="409859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10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text log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56032" y="4811739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74320" y="4478481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Context budgeting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4320" y="4601925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Token/byte estimates, clipping, newest-output preservation.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36391" y="4446477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136391" y="446933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394345" y="4446477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394345" y="446933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packed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652298" y="4446477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652298" y="446933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910251" y="4446477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910251" y="446933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65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68204" y="4446477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168204" y="446933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45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budget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426157" y="4446477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426157" y="446933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30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clip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84110" y="4446477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684110" y="4469337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10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tail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56032" y="5182486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74320" y="4849229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Model compaction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74320" y="4972673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Codex summary prompt, memento replacement, checkpoint reuse.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136391" y="4817225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136391" y="4840085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394345" y="4817225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394345" y="4840085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packed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652298" y="4817225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652298" y="4840085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910251" y="4817225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910251" y="4840085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168204" y="4817225"/>
            <a:ext cx="1257953" cy="370747"/>
          </a:xfrm>
          <a:prstGeom prst="rect">
            <a:avLst/>
          </a:prstGeom>
          <a:solidFill>
            <a:srgbClr val="ED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168204" y="4840085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removed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426157" y="4817225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426157" y="4840085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15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stub note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84110" y="4817225"/>
            <a:ext cx="1257953" cy="370747"/>
          </a:xfrm>
          <a:prstGeom prst="rect">
            <a:avLst/>
          </a:prstGeom>
          <a:solidFill>
            <a:srgbClr val="ED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684110" y="4840085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absent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56032" y="5553234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74320" y="5219977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Recovery and completion policy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74320" y="5343421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Empty-model recovery, no-tool finalization, status probes.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136391" y="5187973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136391" y="5210833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394345" y="5187973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394345" y="5210833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652298" y="5187973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652298" y="5210833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910251" y="5187973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10251" y="5210833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168204" y="5187973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8168204" y="5210833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55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simple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426157" y="5187973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9426157" y="5210833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40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status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84110" y="5187973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684110" y="5210833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15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final text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56032" y="5923981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74320" y="5590724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Command classification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74320" y="5714168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Patch/write risk assessment and emitted-call metadata.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136391" y="5558720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136391" y="558158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full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394345" y="5558720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394345" y="558158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compact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652298" y="5558720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652298" y="558158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70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small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910251" y="5558720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6910251" y="558158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60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small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168204" y="5558720"/>
            <a:ext cx="1257953" cy="370747"/>
          </a:xfrm>
          <a:prstGeom prst="rect">
            <a:avLst/>
          </a:prstGeom>
          <a:solidFill>
            <a:srgbClr val="ED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168204" y="558158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removed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426157" y="5558720"/>
            <a:ext cx="1257953" cy="370747"/>
          </a:xfrm>
          <a:prstGeom prst="rect">
            <a:avLst/>
          </a:prstGeom>
          <a:solidFill>
            <a:srgbClr val="ED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426157" y="558158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removed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84110" y="5558720"/>
            <a:ext cx="1257953" cy="370747"/>
          </a:xfrm>
          <a:prstGeom prst="rect">
            <a:avLst/>
          </a:prstGeom>
          <a:solidFill>
            <a:srgbClr val="ED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684110" y="5581580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absent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256032" y="6294729"/>
            <a:ext cx="1168603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274320" y="5961472"/>
            <a:ext cx="2843784" cy="128016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00" b="1">
                <a:solidFill>
                  <a:srgbClr val="182029"/>
                </a:solidFill>
                <a:latin typeface="Arial"/>
              </a:rPr>
              <a:t>Instrumentation and thinnability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74320" y="6084916"/>
            <a:ext cx="2843784" cy="206155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540" b="0">
                <a:solidFill>
                  <a:srgbClr val="5F6974"/>
                </a:solidFill>
                <a:latin typeface="Georgia"/>
              </a:rPr>
              <a:t>Parity manifest, feature profiles, per-turn Codex metadata.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3136391" y="5929468"/>
            <a:ext cx="1257953" cy="370747"/>
          </a:xfrm>
          <a:prstGeom prst="rect">
            <a:avLst/>
          </a:prstGeom>
          <a:solidFill>
            <a:srgbClr val="0B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136391" y="5952328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E8EEEB"/>
                </a:solidFill>
                <a:latin typeface="Arial"/>
              </a:rPr>
              <a:t>manifest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394345" y="5929468"/>
            <a:ext cx="1257953" cy="370747"/>
          </a:xfrm>
          <a:prstGeom prst="rect">
            <a:avLst/>
          </a:prstGeom>
          <a:solidFill>
            <a:srgbClr val="A6B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394345" y="5952328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85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profiles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652298" y="5929468"/>
            <a:ext cx="1257953" cy="370747"/>
          </a:xfrm>
          <a:prstGeom prst="rect">
            <a:avLst/>
          </a:prstGeom>
          <a:solidFill>
            <a:srgbClr val="D3B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5652298" y="5952328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60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metadata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910251" y="5929468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910251" y="5952328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55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metadata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8168204" y="5929468"/>
            <a:ext cx="1257953" cy="370747"/>
          </a:xfrm>
          <a:prstGeom prst="rect">
            <a:avLst/>
          </a:prstGeom>
          <a:solidFill>
            <a:srgbClr val="D7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168204" y="5952328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40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metrics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426157" y="5929468"/>
            <a:ext cx="1257953" cy="370747"/>
          </a:xfrm>
          <a:prstGeom prst="rect">
            <a:avLst/>
          </a:prstGeom>
          <a:solidFill>
            <a:srgbClr val="D8C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426157" y="5952328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5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none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84110" y="5929468"/>
            <a:ext cx="1257953" cy="370747"/>
          </a:xfrm>
          <a:prstGeom prst="rect">
            <a:avLst/>
          </a:prstGeom>
          <a:solidFill>
            <a:srgbClr val="ED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10684110" y="5952328"/>
            <a:ext cx="1257953" cy="343315"/>
          </a:xfrm>
          <a:prstGeom prst="rect">
            <a:avLst/>
          </a:prstGeom>
          <a:noFill/>
        </p:spPr>
        <p:txBody>
          <a:bodyPr wrap="none" lIns="18288" rIns="18288" tIns="18288" bIns="9144" anchor="ctr">
            <a:spAutoFit/>
          </a:bodyPr>
          <a:lstStyle/>
          <a:p>
            <a:pPr algn="ctr"/>
            <a:r>
              <a:rPr sz="740" b="1">
                <a:solidFill>
                  <a:srgbClr val="1820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sz="520">
                <a:solidFill>
                  <a:srgbClr val="2A3138"/>
                </a:solidFill>
                <a:latin typeface="Arial"/>
              </a:rPr>
              <a:t>absent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56032" y="6382512"/>
            <a:ext cx="11686032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56032" y="6446520"/>
            <a:ext cx="11686032" cy="274320"/>
          </a:xfrm>
          <a:prstGeom prst="rect">
            <a:avLst/>
          </a:prstGeom>
          <a:noFill/>
        </p:spPr>
        <p:txBody>
          <a:bodyPr wrap="none" lIns="22860" rIns="22860" tIns="9144" bIns="9144" anchor="t">
            <a:spAutoFit/>
          </a:bodyPr>
          <a:lstStyle/>
          <a:p>
            <a:r>
              <a:rPr sz="730" b="0">
                <a:solidFill>
                  <a:srgbClr val="5F6974"/>
                </a:solidFill>
                <a:latin typeface="Georgia"/>
              </a:rPr>
              <a:t>Reading left to right: early compression removes readability and structure first; later compression removes behavior. The 700-line seed is the first major behavioral break because model compaction is gone. The 400-line seed keeps the Codex prompt and core shell tools but drops plan updates and most metadata. The 100-line endpoint is a minimal baseline, not a Codex 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